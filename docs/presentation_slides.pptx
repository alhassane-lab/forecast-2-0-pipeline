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 type="screen16x9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AndContent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74320"/>
            <a:ext cx="11277600" cy="914400"/>
          </a:xfrm>
        </p:spPr>
        <p:txBody>
          <a:bodyPr/>
          <a:lstStyle/>
          <a:p>
            <a:r>
              <a:rPr sz="4000" b="1"/>
              <a:t>Forecast 2.0 Pipeline</a:t>
            </a:r>
          </a:p>
        </p:txBody>
      </p:sp>
      <p:sp>
        <p:nvSpPr>
          <p:cNvPr id="3" name="Content Placeholder 2"/>
          <p:cNvSpPr/>
          <p:nvPr/>
        </p:nvSpPr>
        <p:spPr>
          <a:xfrm>
            <a:off x="685800" y="1371600"/>
            <a:ext cx="10843200" cy="4937760"/>
          </a:xfrm>
        </p:spPr>
        <p:txBody>
          <a:bodyPr/>
          <a:lstStyle/>
          <a:p>
            <a:pPr lvl="0"/>
            <a:r>
              <a:t>Collecte, Transformation, Stockage et Exploitation AWS</a:t>
            </a:r>
          </a:p>
          <a:p>
            <a:pPr lvl="1"/>
            <a:r>
              <a:t>Mission Data Engineering</a:t>
            </a:r>
          </a:p>
          <a:p>
            <a:pPr lvl="1"/>
            <a:r>
              <a:t>Airbyte + S3 + ETL Python + MongoDB + AWS ECS</a:t>
            </a:r>
          </a:p>
          <a:p>
            <a:pPr lvl="1"/>
            <a:r>
              <a:t>Auteur: Alhassane AHMED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74320"/>
            <a:ext cx="11277600" cy="914400"/>
          </a:xfrm>
        </p:spPr>
        <p:txBody>
          <a:bodyPr/>
          <a:lstStyle/>
          <a:p>
            <a:r>
              <a:rPr sz="4000" b="1"/>
              <a:t>1. Contexte de la mission</a:t>
            </a:r>
          </a:p>
        </p:txBody>
      </p:sp>
      <p:sp>
        <p:nvSpPr>
          <p:cNvPr id="3" name="Content Placeholder 2"/>
          <p:cNvSpPr/>
          <p:nvPr/>
        </p:nvSpPr>
        <p:spPr>
          <a:xfrm>
            <a:off x="685800" y="1371600"/>
            <a:ext cx="10843200" cy="4937760"/>
          </a:xfrm>
        </p:spPr>
        <p:txBody>
          <a:bodyPr/>
          <a:lstStyle/>
          <a:p>
            <a:pPr lvl="1"/>
            <a:r>
              <a:t>Centraliser des donnees meteo heterogenes</a:t>
            </a:r>
          </a:p>
          <a:p>
            <a:pPr lvl="1"/>
            <a:r>
              <a:t>Garantir qualite, disponibilite, tracabilite</a:t>
            </a:r>
          </a:p>
          <a:p>
            <a:pPr lvl="1"/>
            <a:r>
              <a:t>Produire un pipeline industrialisable en production</a:t>
            </a:r>
          </a:p>
          <a:p>
            <a:pPr lvl="0"/>
            <a:r>
              <a:t>Objectifs:</a:t>
            </a:r>
          </a:p>
          <a:p>
            <a:pPr lvl="1"/>
            <a:r>
              <a:t>Collecte automatisee</a:t>
            </a:r>
          </a:p>
          <a:p>
            <a:pPr lvl="1"/>
            <a:r>
              <a:t>Transformation vers schema unique</a:t>
            </a:r>
          </a:p>
          <a:p>
            <a:pPr lvl="1"/>
            <a:r>
              <a:t>Stockage MongoDB exploitable</a:t>
            </a:r>
          </a:p>
          <a:p>
            <a:pPr lvl="1"/>
            <a:r>
              <a:t>Reporting qualite et 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74320"/>
            <a:ext cx="11277600" cy="914400"/>
          </a:xfrm>
        </p:spPr>
        <p:txBody>
          <a:bodyPr/>
          <a:lstStyle/>
          <a:p>
            <a:r>
              <a:rPr sz="4000" b="1"/>
              <a:t>2. Demarche technique complete</a:t>
            </a:r>
          </a:p>
        </p:txBody>
      </p:sp>
      <p:sp>
        <p:nvSpPr>
          <p:cNvPr id="3" name="Content Placeholder 2"/>
          <p:cNvSpPr/>
          <p:nvPr/>
        </p:nvSpPr>
        <p:spPr>
          <a:xfrm>
            <a:off x="685800" y="1371600"/>
            <a:ext cx="10843200" cy="4937760"/>
          </a:xfrm>
        </p:spPr>
        <p:txBody>
          <a:bodyPr/>
          <a:lstStyle/>
          <a:p>
            <a:pPr lvl="0"/>
            <a:r>
              <a:t>Cadrage et modelisation des donnees</a:t>
            </a:r>
          </a:p>
          <a:p>
            <a:pPr lvl="0"/>
            <a:r>
              <a:t>Ingestion Airbyte vers S3 raw</a:t>
            </a:r>
          </a:p>
          <a:p>
            <a:pPr lvl="0"/>
            <a:r>
              <a:t>ETL Python (extract, harmonize, validate)</a:t>
            </a:r>
          </a:p>
          <a:p>
            <a:pPr lvl="0"/>
            <a:r>
              <a:t>Persistance S3 processed + MongoDB</a:t>
            </a:r>
          </a:p>
          <a:p>
            <a:pPr lvl="0"/>
            <a:r>
              <a:t>Tests, reporting, observabilite</a:t>
            </a:r>
          </a:p>
          <a:p>
            <a:pPr lvl="0"/>
            <a:r>
              <a:t>Deploiement AWS ECS via Terraform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74320"/>
            <a:ext cx="11277600" cy="914400"/>
          </a:xfrm>
        </p:spPr>
        <p:txBody>
          <a:bodyPr/>
          <a:lstStyle/>
          <a:p>
            <a:r>
              <a:rPr sz="4000" b="1"/>
              <a:t>3. Architecture globale (end-to-end)</a:t>
            </a:r>
          </a:p>
        </p:txBody>
      </p:sp>
      <p:sp>
        <p:nvSpPr>
          <p:cNvPr id="3" name="Content Placeholder 2"/>
          <p:cNvSpPr/>
          <p:nvPr/>
        </p:nvSpPr>
        <p:spPr>
          <a:xfrm>
            <a:off x="685800" y="1371600"/>
            <a:ext cx="10843200" cy="4937760"/>
          </a:xfrm>
        </p:spPr>
        <p:txBody>
          <a:bodyPr/>
          <a:lstStyle/>
          <a:p>
            <a:pPr lvl="0"/>
            <a:r>
              <a:t>`Airbyte -&gt; S3 Raw -&gt; ETL Python -&gt; S3 Processed -&gt; MongoDB`</a:t>
            </a:r>
          </a:p>
          <a:p>
            <a:pPr lvl="0"/>
            <a:r>
              <a:t>Composants:</a:t>
            </a:r>
          </a:p>
          <a:p>
            <a:pPr lvl="1"/>
            <a:r>
              <a:t>Sources: InfoClimat, Weather Underground</a:t>
            </a:r>
          </a:p>
          <a:p>
            <a:pPr lvl="1"/>
            <a:r>
              <a:t>ETL: scripts Python + orchestrateur `src/main.py`</a:t>
            </a:r>
          </a:p>
          <a:p>
            <a:pPr lvl="1"/>
            <a:r>
              <a:t>Base: MongoDB Replica Set (3 noeuds)</a:t>
            </a:r>
          </a:p>
          <a:p>
            <a:pPr lvl="1"/>
            <a:r>
              <a:t>Ops: CloudWatch, SNS, AWS Backup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74320"/>
            <a:ext cx="11277600" cy="914400"/>
          </a:xfrm>
        </p:spPr>
        <p:txBody>
          <a:bodyPr/>
          <a:lstStyle/>
          <a:p>
            <a:r>
              <a:rPr sz="4000" b="1"/>
              <a:t>4. Logigramme du processus</a:t>
            </a:r>
          </a:p>
        </p:txBody>
      </p:sp>
      <p:sp>
        <p:nvSpPr>
          <p:cNvPr id="3" name="Content Placeholder 2"/>
          <p:cNvSpPr/>
          <p:nvPr/>
        </p:nvSpPr>
        <p:spPr>
          <a:xfrm>
            <a:off x="685800" y="1371600"/>
            <a:ext cx="10843200" cy="4937760"/>
          </a:xfrm>
        </p:spPr>
        <p:txBody>
          <a:bodyPr/>
          <a:lstStyle/>
          <a:p>
            <a:pPr lvl="1"/>
            <a:r>
              <a:t>Collecter (Airbyte/S3)</a:t>
            </a:r>
          </a:p>
          <a:p>
            <a:pPr lvl="1"/>
            <a:r>
              <a:t>Extraire (InfoClimat + WU)</a:t>
            </a:r>
          </a:p>
          <a:p>
            <a:pPr lvl="1"/>
            <a:r>
              <a:t>Transformer (schema cible)</a:t>
            </a:r>
          </a:p>
          <a:p>
            <a:pPr lvl="1"/>
            <a:r>
              <a:t>Valider (regles qualite)</a:t>
            </a:r>
          </a:p>
          <a:p>
            <a:pPr lvl="1"/>
            <a:r>
              <a:t>Stocker (S3 processed + MongoDB)</a:t>
            </a:r>
          </a:p>
          <a:p>
            <a:pPr lvl="1"/>
            <a:r>
              <a:t>Tester (CRUD, latence, rapports)</a:t>
            </a:r>
          </a:p>
          <a:p>
            <a:pPr lvl="0"/>
            <a:r>
              <a:t>Visuel a inserer:</a:t>
            </a:r>
          </a:p>
          <a:p>
            <a:pPr lvl="1"/>
            <a:r>
              <a:t>`docs/process_flowchart.mmd` (export PNG/SVG)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74320"/>
            <a:ext cx="11277600" cy="914400"/>
          </a:xfrm>
        </p:spPr>
        <p:txBody>
          <a:bodyPr/>
          <a:lstStyle/>
          <a:p>
            <a:r>
              <a:rPr sz="4000" b="1"/>
              <a:t>5. Schema de la base de donnees</a:t>
            </a:r>
          </a:p>
        </p:txBody>
      </p:sp>
      <p:sp>
        <p:nvSpPr>
          <p:cNvPr id="3" name="Content Placeholder 2"/>
          <p:cNvSpPr/>
          <p:nvPr/>
        </p:nvSpPr>
        <p:spPr>
          <a:xfrm>
            <a:off x="685800" y="1371600"/>
            <a:ext cx="10843200" cy="4937760"/>
          </a:xfrm>
        </p:spPr>
        <p:txBody>
          <a:bodyPr/>
          <a:lstStyle/>
          <a:p>
            <a:pPr lvl="0"/>
            <a:r>
              <a:t>Collection principale:</a:t>
            </a:r>
          </a:p>
          <a:p>
            <a:pPr lvl="1"/>
            <a:r>
              <a:t>`forecast_2_0.weather_measurements`</a:t>
            </a:r>
          </a:p>
          <a:p>
            <a:pPr lvl="0"/>
            <a:r>
              <a:t>Blocs principaux:</a:t>
            </a:r>
          </a:p>
          <a:p>
            <a:pPr lvl="1"/>
            <a:r>
              <a:t>`station`</a:t>
            </a:r>
          </a:p>
          <a:p>
            <a:pPr lvl="1"/>
            <a:r>
              <a:t>`timestamp`</a:t>
            </a:r>
          </a:p>
          <a:p>
            <a:pPr lvl="1"/>
            <a:r>
              <a:t>`measurements`</a:t>
            </a:r>
          </a:p>
          <a:p>
            <a:pPr lvl="1"/>
            <a:r>
              <a:t>`data_quality`</a:t>
            </a:r>
          </a:p>
          <a:p>
            <a:pPr lvl="1"/>
            <a:r>
              <a:t>`metadata`</a:t>
            </a:r>
          </a:p>
          <a:p>
            <a:pPr lvl="0"/>
            <a:r>
              <a:t>Source schema:</a:t>
            </a:r>
          </a:p>
          <a:p>
            <a:pPr lvl="1"/>
            <a:r>
              <a:t>`src/config/mongodb_schema.json`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74320"/>
            <a:ext cx="11277600" cy="914400"/>
          </a:xfrm>
        </p:spPr>
        <p:txBody>
          <a:bodyPr/>
          <a:lstStyle/>
          <a:p>
            <a:r>
              <a:rPr sz="4000" b="1"/>
              <a:t>6. Architecture MongoDB</a:t>
            </a:r>
          </a:p>
        </p:txBody>
      </p:sp>
      <p:sp>
        <p:nvSpPr>
          <p:cNvPr id="3" name="Content Placeholder 2"/>
          <p:cNvSpPr/>
          <p:nvPr/>
        </p:nvSpPr>
        <p:spPr>
          <a:xfrm>
            <a:off x="685800" y="1371600"/>
            <a:ext cx="10843200" cy="4937760"/>
          </a:xfrm>
        </p:spPr>
        <p:txBody>
          <a:bodyPr/>
          <a:lstStyle/>
          <a:p>
            <a:pPr lvl="0"/>
            <a:r>
              <a:t>Topologie:</a:t>
            </a:r>
          </a:p>
          <a:p>
            <a:pPr lvl="1"/>
            <a:r>
              <a:t>Replica set 3 noeuds: `mongo-1`, `mongo-2`, `mongo-3`</a:t>
            </a:r>
          </a:p>
          <a:p>
            <a:pPr lvl="1"/>
            <a:r>
              <a:t>Service discovery prive (Cloud Map)</a:t>
            </a:r>
          </a:p>
          <a:p>
            <a:pPr lvl="1"/>
            <a:r>
              <a:t>Volumes EBS manages par service ECS</a:t>
            </a:r>
          </a:p>
          <a:p>
            <a:pPr lvl="0"/>
            <a:r>
              <a:t>Securite:</a:t>
            </a:r>
          </a:p>
          <a:p>
            <a:pPr lvl="1"/>
            <a:r>
              <a:t>Auth MongoDB activee</a:t>
            </a:r>
          </a:p>
          <a:p>
            <a:pPr lvl="1"/>
            <a:r>
              <a:t>Secrets Manager (root + replica key)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74320"/>
            <a:ext cx="11277600" cy="914400"/>
          </a:xfrm>
        </p:spPr>
        <p:txBody>
          <a:bodyPr/>
          <a:lstStyle/>
          <a:p>
            <a:r>
              <a:rPr sz="4000" b="1"/>
              <a:t>7. Justification des choix techniques</a:t>
            </a:r>
          </a:p>
        </p:txBody>
      </p:sp>
      <p:sp>
        <p:nvSpPr>
          <p:cNvPr id="3" name="Content Placeholder 2"/>
          <p:cNvSpPr/>
          <p:nvPr/>
        </p:nvSpPr>
        <p:spPr>
          <a:xfrm>
            <a:off x="685800" y="1371600"/>
            <a:ext cx="10843200" cy="4937760"/>
          </a:xfrm>
        </p:spPr>
        <p:txBody>
          <a:bodyPr/>
          <a:lstStyle/>
          <a:p>
            <a:pPr lvl="1"/>
            <a:r>
              <a:t>Airbyte: ingestion rapide multi-connecteurs</a:t>
            </a:r>
          </a:p>
          <a:p>
            <a:pPr lvl="1"/>
            <a:r>
              <a:t>S3: zone raw/processed durable et economique</a:t>
            </a:r>
          </a:p>
          <a:p>
            <a:pPr lvl="1"/>
            <a:r>
              <a:t>Python ETL: logique metier fine et testable</a:t>
            </a:r>
          </a:p>
          <a:p>
            <a:pPr lvl="1"/>
            <a:r>
              <a:t>MongoDB: flexibilite schema + index geospatial</a:t>
            </a:r>
          </a:p>
          <a:p>
            <a:pPr lvl="1"/>
            <a:r>
              <a:t>ECS + Terraform: deploiement reproductible et maintenable</a:t>
            </a:r>
          </a:p>
          <a:p>
            <a:pPr lvl="1"/>
            <a:r>
              <a:t>CloudWatch/SNS + Backup: exploitation production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74320"/>
            <a:ext cx="11277600" cy="914400"/>
          </a:xfrm>
        </p:spPr>
        <p:txBody>
          <a:bodyPr/>
          <a:lstStyle/>
          <a:p>
            <a:r>
              <a:rPr sz="4000" b="1"/>
              <a:t>8. Installation Airbyte (preuves)</a:t>
            </a:r>
          </a:p>
        </p:txBody>
      </p:sp>
      <p:sp>
        <p:nvSpPr>
          <p:cNvPr id="3" name="Content Placeholder 2"/>
          <p:cNvSpPr/>
          <p:nvPr/>
        </p:nvSpPr>
        <p:spPr>
          <a:xfrm>
            <a:off x="685800" y="1371600"/>
            <a:ext cx="10843200" cy="4937760"/>
          </a:xfrm>
        </p:spPr>
        <p:txBody>
          <a:bodyPr/>
          <a:lstStyle/>
          <a:p>
            <a:pPr lvl="0"/>
            <a:r>
              <a:t>Captures a inserer:</a:t>
            </a:r>
          </a:p>
          <a:p>
            <a:pPr lvl="0"/>
            <a:r>
              <a:t>Source InfoClimat configuree</a:t>
            </a:r>
          </a:p>
          <a:p>
            <a:pPr lvl="0"/>
            <a:r>
              <a:t>Source Weather Underground configuree</a:t>
            </a:r>
          </a:p>
          <a:p>
            <a:pPr lvl="0"/>
            <a:r>
              <a:t>Destination S3 configuree</a:t>
            </a:r>
          </a:p>
          <a:p>
            <a:pPr lvl="0"/>
            <a:r>
              <a:t>Job sync reussi (status)</a:t>
            </a:r>
          </a:p>
          <a:p>
            <a:pPr lvl="0"/>
            <a:r>
              <a:t>Message cle:</a:t>
            </a:r>
          </a:p>
          <a:p>
            <a:pPr lvl="1"/>
            <a:r>
              <a:t>Les flux sont bien ingestes vers `airbyte-sync/...` dans S3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74320"/>
            <a:ext cx="11277600" cy="914400"/>
          </a:xfrm>
        </p:spPr>
        <p:txBody>
          <a:bodyPr/>
          <a:lstStyle/>
          <a:p>
            <a:r>
              <a:rPr sz="4000" b="1"/>
              <a:t>9. Detailler la pipeline applicative</a:t>
            </a:r>
          </a:p>
        </p:txBody>
      </p:sp>
      <p:sp>
        <p:nvSpPr>
          <p:cNvPr id="3" name="Content Placeholder 2"/>
          <p:cNvSpPr/>
          <p:nvPr/>
        </p:nvSpPr>
        <p:spPr>
          <a:xfrm>
            <a:off x="685800" y="1371600"/>
            <a:ext cx="10843200" cy="4937760"/>
          </a:xfrm>
        </p:spPr>
        <p:txBody>
          <a:bodyPr/>
          <a:lstStyle/>
          <a:p>
            <a:pPr lvl="0"/>
            <a:r>
              <a:t>Orchestration:</a:t>
            </a:r>
          </a:p>
          <a:p>
            <a:pPr lvl="1"/>
            <a:r>
              <a:t>`extract_data()`</a:t>
            </a:r>
          </a:p>
          <a:p>
            <a:pPr lvl="1"/>
            <a:r>
              <a:t>`transform_data()`</a:t>
            </a:r>
          </a:p>
          <a:p>
            <a:pPr lvl="1"/>
            <a:r>
              <a:t>`validate_data()`</a:t>
            </a:r>
          </a:p>
          <a:p>
            <a:pPr lvl="1"/>
            <a:r>
              <a:t>`save_validated_to_s3()`</a:t>
            </a:r>
          </a:p>
          <a:p>
            <a:pPr lvl="1"/>
            <a:r>
              <a:t>`load_data()`</a:t>
            </a:r>
          </a:p>
          <a:p>
            <a:pPr lvl="1"/>
            <a:r>
              <a:t>`generate_quality_report()`</a:t>
            </a:r>
          </a:p>
          <a:p>
            <a:pPr lvl="0"/>
            <a:r>
              <a:t>Livrables d'execution:</a:t>
            </a:r>
          </a:p>
          <a:p>
            <a:pPr lvl="1"/>
            <a:r>
              <a:t>`logs/pipeline_status.json`</a:t>
            </a:r>
          </a:p>
          <a:p>
            <a:pPr lvl="1"/>
            <a:r>
              <a:t>`logs/quality_report_*.json`</a:t>
            </a:r>
          </a:p>
          <a:p>
            <a:pPr lvl="1"/>
            <a:r>
              <a:t>`logs/migration_report_*.json`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74320"/>
            <a:ext cx="11277600" cy="914400"/>
          </a:xfrm>
        </p:spPr>
        <p:txBody>
          <a:bodyPr/>
          <a:lstStyle/>
          <a:p>
            <a:r>
              <a:rPr sz="4000" b="1"/>
              <a:t>10. Reporting qualite des donnees</a:t>
            </a:r>
          </a:p>
        </p:txBody>
      </p:sp>
      <p:sp>
        <p:nvSpPr>
          <p:cNvPr id="3" name="Content Placeholder 2"/>
          <p:cNvSpPr/>
          <p:nvPr/>
        </p:nvSpPr>
        <p:spPr>
          <a:xfrm>
            <a:off x="685800" y="1371600"/>
            <a:ext cx="10843200" cy="4937760"/>
          </a:xfrm>
        </p:spPr>
        <p:txBody>
          <a:bodyPr/>
          <a:lstStyle/>
          <a:p>
            <a:pPr lvl="0"/>
            <a:r>
              <a:t>KPIs:</a:t>
            </a:r>
          </a:p>
          <a:p>
            <a:pPr lvl="1"/>
            <a:r>
              <a:t>records_extracted</a:t>
            </a:r>
          </a:p>
          <a:p>
            <a:pPr lvl="1"/>
            <a:r>
              <a:t>records_validated</a:t>
            </a:r>
          </a:p>
          <a:p>
            <a:pPr lvl="1"/>
            <a:r>
              <a:t>records_rejected</a:t>
            </a:r>
          </a:p>
          <a:p>
            <a:pPr lvl="1"/>
            <a:r>
              <a:t>rejection_rate</a:t>
            </a:r>
          </a:p>
          <a:p>
            <a:pPr lvl="1"/>
            <a:r>
              <a:t>completeness_score</a:t>
            </a:r>
          </a:p>
          <a:p>
            <a:pPr lvl="1"/>
            <a:r>
              <a:t>anomalies_detected</a:t>
            </a:r>
          </a:p>
          <a:p>
            <a:pPr lvl="0"/>
            <a:r>
              <a:t>Sources:</a:t>
            </a:r>
          </a:p>
          <a:p>
            <a:pPr lvl="1"/>
            <a:r>
              <a:t>`logs/quality_report_*.json`</a:t>
            </a:r>
          </a:p>
          <a:p>
            <a:pPr lvl="1"/>
            <a:r>
              <a:t>`logs/migration_report_*.json`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74320"/>
            <a:ext cx="11277600" cy="914400"/>
          </a:xfrm>
        </p:spPr>
        <p:txBody>
          <a:bodyPr/>
          <a:lstStyle/>
          <a:p>
            <a:r>
              <a:rPr sz="4000" b="1"/>
              <a:t>11. Reporting temps d'accessibilite</a:t>
            </a:r>
          </a:p>
        </p:txBody>
      </p:sp>
      <p:sp>
        <p:nvSpPr>
          <p:cNvPr id="3" name="Content Placeholder 2"/>
          <p:cNvSpPr/>
          <p:nvPr/>
        </p:nvSpPr>
        <p:spPr>
          <a:xfrm>
            <a:off x="685800" y="1371600"/>
            <a:ext cx="10843200" cy="4937760"/>
          </a:xfrm>
        </p:spPr>
        <p:txBody>
          <a:bodyPr/>
          <a:lstStyle/>
          <a:p>
            <a:pPr lvl="0"/>
            <a:r>
              <a:t>Mesure:</a:t>
            </a:r>
          </a:p>
          <a:p>
            <a:pPr lvl="1"/>
            <a:r>
              <a:t>latence min/max/moyenne des requetes MongoDB</a:t>
            </a:r>
          </a:p>
          <a:p>
            <a:pPr lvl="1"/>
            <a:r>
              <a:t>volume de lignes retournees</a:t>
            </a:r>
          </a:p>
          <a:p>
            <a:pPr lvl="0"/>
            <a:r>
              <a:t>Source:</a:t>
            </a:r>
          </a:p>
          <a:p>
            <a:pPr lvl="1"/>
            <a:r>
              <a:t>`logs/query_latency_report_*.json`</a:t>
            </a:r>
          </a:p>
          <a:p>
            <a:pPr lvl="0"/>
            <a:r>
              <a:t>Commande type:</a:t>
            </a:r>
          </a:p>
          <a:p>
            <a:pPr lvl="1"/>
            <a:r>
              <a:t>`poetry run latency-report --station-id ILAMAD25 --date 2026-02-18 --iterations 10`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74320"/>
            <a:ext cx="11277600" cy="914400"/>
          </a:xfrm>
        </p:spPr>
        <p:txBody>
          <a:bodyPr/>
          <a:lstStyle/>
          <a:p>
            <a:r>
              <a:rPr sz="4000" b="1"/>
              <a:t>12. Installation AWS (preuves)</a:t>
            </a:r>
          </a:p>
        </p:txBody>
      </p:sp>
      <p:sp>
        <p:nvSpPr>
          <p:cNvPr id="3" name="Content Placeholder 2"/>
          <p:cNvSpPr/>
          <p:nvPr/>
        </p:nvSpPr>
        <p:spPr>
          <a:xfrm>
            <a:off x="685800" y="1371600"/>
            <a:ext cx="10843200" cy="4937760"/>
          </a:xfrm>
        </p:spPr>
        <p:txBody>
          <a:bodyPr/>
          <a:lstStyle/>
          <a:p>
            <a:pPr lvl="0"/>
            <a:r>
              <a:t>Captures a inserer:</a:t>
            </a:r>
          </a:p>
          <a:p>
            <a:pPr lvl="0"/>
            <a:r>
              <a:t>ECS Cluster + services MongoDB</a:t>
            </a:r>
          </a:p>
          <a:p>
            <a:pPr lvl="0"/>
            <a:r>
              <a:t>CloudWatch alarms</a:t>
            </a:r>
          </a:p>
          <a:p>
            <a:pPr lvl="0"/>
            <a:r>
              <a:t>SNS topic/subscription</a:t>
            </a:r>
          </a:p>
          <a:p>
            <a:pPr lvl="0"/>
            <a:r>
              <a:t>AWS Backup vault + plan</a:t>
            </a:r>
          </a:p>
          <a:p>
            <a:pPr lvl="0"/>
            <a:r>
              <a:t>Buckets S3 raw/processed</a:t>
            </a:r>
          </a:p>
          <a:p>
            <a:pPr lvl="0"/>
            <a:r>
              <a:t>Message cle:</a:t>
            </a:r>
          </a:p>
          <a:p>
            <a:pPr lvl="1"/>
            <a:r>
              <a:t>Infrastructure exploitable, monitorable et sauvegardee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74320"/>
            <a:ext cx="11277600" cy="914400"/>
          </a:xfrm>
        </p:spPr>
        <p:txBody>
          <a:bodyPr/>
          <a:lstStyle/>
          <a:p>
            <a:r>
              <a:rPr sz="4000" b="1"/>
              <a:t>13. Resultats et valeur apportee</a:t>
            </a:r>
          </a:p>
        </p:txBody>
      </p:sp>
      <p:sp>
        <p:nvSpPr>
          <p:cNvPr id="3" name="Content Placeholder 2"/>
          <p:cNvSpPr/>
          <p:nvPr/>
        </p:nvSpPr>
        <p:spPr>
          <a:xfrm>
            <a:off x="685800" y="1371600"/>
            <a:ext cx="10843200" cy="4937760"/>
          </a:xfrm>
        </p:spPr>
        <p:txBody>
          <a:bodyPr/>
          <a:lstStyle/>
          <a:p>
            <a:pPr lvl="1"/>
            <a:r>
              <a:t>Pipeline operationnel de bout en bout</a:t>
            </a:r>
          </a:p>
          <a:p>
            <a:pPr lvl="1"/>
            <a:r>
              <a:t>Qualite de donnees mesurable</a:t>
            </a:r>
          </a:p>
          <a:p>
            <a:pPr lvl="1"/>
            <a:r>
              <a:t>Acces aux donnees testable par latence</a:t>
            </a:r>
          </a:p>
          <a:p>
            <a:pPr lvl="1"/>
            <a:r>
              <a:t>Stack production AWS stabilisee</a:t>
            </a:r>
          </a:p>
          <a:p>
            <a:pPr lvl="1"/>
            <a:r>
              <a:t>Documentation et runbooks disponibles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74320"/>
            <a:ext cx="11277600" cy="914400"/>
          </a:xfrm>
        </p:spPr>
        <p:txBody>
          <a:bodyPr/>
          <a:lstStyle/>
          <a:p>
            <a:r>
              <a:rPr sz="4000" b="1"/>
              <a:t>14. Limites et ameliorations</a:t>
            </a:r>
          </a:p>
        </p:txBody>
      </p:sp>
      <p:sp>
        <p:nvSpPr>
          <p:cNvPr id="3" name="Content Placeholder 2"/>
          <p:cNvSpPr/>
          <p:nvPr/>
        </p:nvSpPr>
        <p:spPr>
          <a:xfrm>
            <a:off x="685800" y="1371600"/>
            <a:ext cx="10843200" cy="4937760"/>
          </a:xfrm>
        </p:spPr>
        <p:txBody>
          <a:bodyPr/>
          <a:lstStyle/>
          <a:p>
            <a:pPr lvl="0"/>
            <a:r>
              <a:t>Limites:</a:t>
            </a:r>
          </a:p>
          <a:p>
            <a:pPr lvl="1"/>
            <a:r>
              <a:t>qualite dependante des donnees source</a:t>
            </a:r>
          </a:p>
          <a:p>
            <a:pPr lvl="1"/>
            <a:r>
              <a:t>confirmation manuelle initiale SNS email</a:t>
            </a:r>
          </a:p>
          <a:p>
            <a:pPr lvl="0"/>
            <a:r>
              <a:t>Ameliorations:</a:t>
            </a:r>
          </a:p>
          <a:p>
            <a:pPr lvl="1"/>
            <a:r>
              <a:t>dashboard metier (KPI qualite/latence)</a:t>
            </a:r>
          </a:p>
          <a:p>
            <a:pPr lvl="1"/>
            <a:r>
              <a:t>CI/CD complet</a:t>
            </a:r>
          </a:p>
          <a:p>
            <a:pPr lvl="1"/>
            <a:r>
              <a:t>tests de charge + objectifs SLO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74320"/>
            <a:ext cx="11277600" cy="914400"/>
          </a:xfrm>
        </p:spPr>
        <p:txBody>
          <a:bodyPr/>
          <a:lstStyle/>
          <a:p>
            <a:r>
              <a:rPr sz="4000" b="1"/>
              <a:t>15. Conclusion</a:t>
            </a:r>
          </a:p>
        </p:txBody>
      </p:sp>
      <p:sp>
        <p:nvSpPr>
          <p:cNvPr id="3" name="Content Placeholder 2"/>
          <p:cNvSpPr/>
          <p:nvPr/>
        </p:nvSpPr>
        <p:spPr>
          <a:xfrm>
            <a:off x="685800" y="1371600"/>
            <a:ext cx="10843200" cy="4937760"/>
          </a:xfrm>
        </p:spPr>
        <p:txBody>
          <a:bodyPr/>
          <a:lstStyle/>
          <a:p>
            <a:pPr lvl="1"/>
            <a:r>
              <a:t>Mission couverte: architecture, stack, pipeline, schema, process, preuves Airbyte/AWS, qualite, performance</a:t>
            </a:r>
          </a:p>
          <a:p>
            <a:pPr lvl="1"/>
            <a:r>
              <a:t>Solution: industrialisable, maintenable, observable</a:t>
            </a:r>
          </a:p>
          <a:p>
            <a:pPr lvl="1"/>
            <a:r>
              <a:t>Prochaine etape: extension de sources et automatisation CI/CD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16</Slides>
  <Notes>0</Notes>
  <HiddenSlides>0</HiddenSlides>
  <MMClips>0</MMClips>
  <PresentationFormat>Ecran 16:9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Forecast 2.0 Pipeline Presentation</dc:title>
  <dc:creator>Codex</dc:creator>
  <cp:lastModifiedBy>Codex</cp:lastModifiedBy>
  <dcterms:created xsi:type="dcterms:W3CDTF">2026-02-19T09:35:57Z</dcterms:created>
  <dcterms:modified xsi:type="dcterms:W3CDTF">2026-02-19T09:35:57Z</dcterms:modified>
</cp:coreProperties>
</file>